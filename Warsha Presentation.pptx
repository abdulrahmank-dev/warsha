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6256000" cy="9144000"/>
  <p:notesSz cx="9144000" cy="16256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DA3B72A-DE70-490A-90B2-BB8225D327D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7D7427-8947-4D4E-8A6B-42781875266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8CDE0E-53DF-4A1E-81A4-56B5B44D77F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47ACDD7-C87B-4311-9E6D-DEA3EF90BD3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725C1AA-1037-4966-A03B-1FE115B929F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E2A27D1-0192-440E-B9DB-BA1AA941F8B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6D091A4-A827-4945-AE45-3B48ED774E3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C9B92B-7123-443D-942F-F17EA03940C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B513C40-D66D-42F9-8966-012198C0C51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2F3C4F1-87F5-485E-A35E-AF10551320E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24464E-FB72-4ADA-8721-665B50892CF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55999EC-C4D6-4D11-988B-553E36D5CDE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7642404-41ED-4F3A-B7B2-D200BD9F90A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96FC904-EEDA-43B8-91B7-283C6FD8E7D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33C2C00-AB37-404F-9A71-EF21D5E1003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3C11DC5-5B21-4A0F-81FF-9EE75F1238F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41239F4-EE15-4B06-B565-D88F730CAEA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FCA4C72-5802-43C9-8D05-B8A8884DA9C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813C430-D8EC-40DF-9304-D1D540D9A50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132233C-A04E-4172-B9BB-CF110E96B13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https://kimi-img.moonshot.cn/pub/slides/okc/p2dhal2cqvi7g/mnt/agents/output/template_convert/images/image_1.png"/>
          <p:cNvPicPr/>
          <p:nvPr/>
        </p:nvPicPr>
        <p:blipFill>
          <a:blip r:embed="rId1"/>
          <a:stretch/>
        </p:blipFill>
        <p:spPr>
          <a:xfrm>
            <a:off x="505080" y="127080"/>
            <a:ext cx="2763000" cy="239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Image 1" descr="https://kimi-img.moonshot.cn/pub/slides/okc/p2dhal2cqvi7g/mnt/agents/output/template_convert/images/image_2.png"/>
          <p:cNvPicPr/>
          <p:nvPr/>
        </p:nvPicPr>
        <p:blipFill>
          <a:blip r:embed="rId2"/>
          <a:stretch/>
        </p:blipFill>
        <p:spPr>
          <a:xfrm>
            <a:off x="13859280" y="20880"/>
            <a:ext cx="2184120" cy="225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 0"/>
          <p:cNvSpPr/>
          <p:nvPr/>
        </p:nvSpPr>
        <p:spPr>
          <a:xfrm>
            <a:off x="3931560" y="304920"/>
            <a:ext cx="881352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Arab Academy For Science, Technology and Maritime Transport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College of Computing and Information Technology – Cairo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3556080" y="1397160"/>
            <a:ext cx="10159560" cy="20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Warsha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 centralized digital platform connecting local residents with verified service providers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505080" y="3683160"/>
            <a:ext cx="8889480" cy="29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Course: Introduction to Software Engineering (CSE2001)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12th Week Project Documentation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Team Members: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Abdulrahman Ahmed (241004780) | Marino Remon (241004796)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Mohamed Mahmoud (241005267) | Seif Bakry (241004799)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9543960" y="6858000"/>
            <a:ext cx="634968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Presented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Dr. Eman ElSayed Mahmoud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Eng. Anas Ahmad Ibraheem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2031840" y="282600"/>
            <a:ext cx="12191760" cy="11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7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Agenda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1382760" y="1650960"/>
            <a:ext cx="13461480" cy="66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Introduction – Overview of the Warsha platform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Problem Statement – Challenges in finding reliable local services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Project Goals – High-level outcomes of the project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Project Objectives – Specific and measurable targets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Functional Requirements – System features and capabilities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Non-Functional Requirements – Performance, security, and quality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UML Design – Use Case, Activity, Sequence, State Machine, Misuse Case, Class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Implementation – Implemented functions and screenshots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Conclusion and Summary – Key takeaways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1117440" y="482760"/>
            <a:ext cx="140205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Introduction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1117440" y="1778040"/>
            <a:ext cx="14020560" cy="66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Warsha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is a centralized digital platform that connects local residents with verified service providers such as plumbers, tutors, and electricians.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What the system is about: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 standalone platform with mobile apps (Android &amp; iOS) and a web application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Connects three primary user classes: Customers, Workers, and Administrators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Handles authentication, service discovery, scheduling, payments, and disputes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Why this project is important: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Centralized service access – one platform for all local services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Trust and transparency through ratings, reviews, and verified worker profiles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Organized booking system with in-app scheduling and payment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Support for local professionals to reach more customers digitally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1117440" y="482760"/>
            <a:ext cx="140205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Problem Statement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1117440" y="1778040"/>
            <a:ext cx="14020560" cy="66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Many people struggle to find reliable local services due to the lack of organized platforms. The key issues include: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Scattered Service Providers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Service providers are difficult to find because they operate across different platforms or offline sources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Limited Provider Information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Customers usually have little information about a provider's quality or reliability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Difficulty Comparing Services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Without a structured platform, comparing providers based on price or quality is difficult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Inefficient Communication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Traditional communication methods make scheduling and managing services slower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Limited Visibility for Workers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Many skilled workers cannot easily reach potential customers without an online presence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1117440" y="482760"/>
            <a:ext cx="140205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Project Goals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1117440" y="1778040"/>
            <a:ext cx="14020560" cy="50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The primary goal of Warsha is to develop a centralized, user-friendly digital platform that connects local residents with verified service providers.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Key Goals: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Bridge the gap between community needs and local expertise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Foster local economic growth by giving workers a digital presence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Simplify the search for reliable help through organized service categories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Build trust between customers and providers through ratings and verification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Streamline the entire service lifecycle – from discovery to payment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1117440" y="482760"/>
            <a:ext cx="140205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Project Objectives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1117440" y="1778040"/>
            <a:ext cx="14020560" cy="66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1. User-Centric Interface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Separate registration flows for Customers and Providers; cross-platform (Android, iOS, Web)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2. Advanced Search &amp; Discovery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GPS map-based search; organized categories with price/rating filters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3. Trust &amp; Transparency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Rating/feedback mechanism; admin verification of credentials (licenses/IDs)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4. Communication &amp; Booking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In-app chat; time slot booking; provider availability dashboard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5. Data Integrity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Encrypted payment gateways; scalable database for growing users and listings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1117440" y="482760"/>
            <a:ext cx="140205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Functional Requirements – Account &amp; Profile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1117440" y="1650960"/>
            <a:ext cx="6857640" cy="67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Account Management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(Priority: High)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Customers can create an account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FR2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Workers can create an account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FR3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Users can log in with credentials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FR4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Users can edit profile info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Key Flows: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Sign Up → role selection → registration form → account creation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Log In → authentication → dashboard redirect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Profile → editable information display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8229600" y="1650960"/>
            <a:ext cx="6857640" cy="67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Worker Profile Management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(Priority: High)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FR5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Enter personal/professional details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FR6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Specify services offered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FR7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Define preferences (travel, availability)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FR8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Configure base pricing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Key Flows: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Profile setup → details forms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Service selection → update categories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Preferences → save settings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Pricing → store base pricing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1117440" y="482760"/>
            <a:ext cx="140205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Functional Requirements – Discovery &amp; Booking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1117440" y="1650960"/>
            <a:ext cx="6857640" cy="67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Service Discovery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(Priority: High)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FR9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Browse available services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FR10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Search for workers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FR11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View worker profiles and ratings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FR12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GPS-based nearest worker display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Key Flows: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Open app → service categories displayed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Search query → matching workers returned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Select worker → profile with ratings shown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Enable location → nearest workers on map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8229600" y="1650960"/>
            <a:ext cx="6857640" cy="67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Appointment Booking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(Priority: High)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FR13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Book appointments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FR14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Select date and time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FR15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Verify availability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FR16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Cancel/reschedule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FR17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Accept/reject requests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FR18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View scheduled appointments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FR19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Mark jobs completed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Key Flows: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Select service → time slots shown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Confirm → appointment created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Complete → rating enabled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1117440" y="482760"/>
            <a:ext cx="140205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Functional Requirements – Payment &amp; Admin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1117440" y="1650960"/>
            <a:ext cx="6857640" cy="67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Payment Processing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(Priority: High)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FR20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In-app payments for services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FR21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Credit card or cash payment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FR22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Coupon/discount application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FR23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Store payment transactions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FR24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Submit refund requests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FR25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View earnings and history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FR26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Withdraw earnings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Reviews &amp; Ratings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(Priority: Medium)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FR27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Rate workers after service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FR28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Display ratings on profiles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8229600" y="1650960"/>
            <a:ext cx="6857640" cy="67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Admin Management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(Priority: High)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FR29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Approve/reject registrations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FR30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Suspend/reactivate accounts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FR31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Manage and resolve disputes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FR32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Review and process refunds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Key Flows: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Registration → review → approve/reject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Violation → suspend/reactivate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Dispute → review → resolve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Refund → review → process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Rules: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Verify before accepting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Ratings after completion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Refunds within 48h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One account per person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1117440" y="482760"/>
            <a:ext cx="140205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Non-Functional Requirements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1117440" y="1650960"/>
            <a:ext cx="4698720" cy="67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Performance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(NFR-PERF)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Pages load within 3s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500+ concurrent users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DB queries within 1s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Payments within 5s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Safety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(NFR-SAF)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Protect contact info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Warnings on irreversible actions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Secure document storage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Role-based access control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5943600" y="1650960"/>
            <a:ext cx="4698720" cy="67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Security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(NFR-SEC)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HTTPS/TLS encryption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Authentication required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Admin action logging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Secure password policies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PCI-DSS compliance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SQL/XSS/CSRF protection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Business Rules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Verify before accepting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Ratings after completion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Refunds within 48h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One coupon per transaction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One account per person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10769760" y="1650960"/>
            <a:ext cx="4317480" cy="67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Quality Attributes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Usability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Under 3 min registration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Scalability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Grow without rework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Availability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99% uptime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Reliability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Data integrity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Maintainability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Well-documented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Portability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Expand platforms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Testability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Unit, integration, E2E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1117440" y="482760"/>
            <a:ext cx="140205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UML Design Overview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1117440" y="1778040"/>
            <a:ext cx="14020560" cy="634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The Warsha system is modeled using six UML diagram types: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Use Case Diagram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Interactions between Customer, Worker, Admin and the system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Activity Diagram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Service booking workflow from search to rating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Sequence Diagram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Interaction sequence during booking and payment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State Machine Diagram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Lifecycle states of Appointment and Worker Registration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Misuse Case Diagram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Security threats and mitigation strategies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Class Diagram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– Static structure: User, Customer, Worker, Admin, Service, Appointment, Payment, Review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1117440" y="482760"/>
            <a:ext cx="140205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Use Case Diagram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1117440" y="1650960"/>
            <a:ext cx="1402056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3048120" y="3809880"/>
            <a:ext cx="10159560" cy="253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"/>
          <p:cNvPicPr/>
          <p:nvPr/>
        </p:nvPicPr>
        <p:blipFill>
          <a:blip r:embed="rId1"/>
          <a:stretch/>
        </p:blipFill>
        <p:spPr>
          <a:xfrm>
            <a:off x="7315200" y="0"/>
            <a:ext cx="8229600" cy="980172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1117440" y="482760"/>
            <a:ext cx="140205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Activity Diagram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3048120" y="3809880"/>
            <a:ext cx="10159560" cy="253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"/>
          <p:cNvPicPr/>
          <p:nvPr/>
        </p:nvPicPr>
        <p:blipFill>
          <a:blip r:embed="rId1"/>
          <a:stretch/>
        </p:blipFill>
        <p:spPr>
          <a:xfrm>
            <a:off x="7332120" y="0"/>
            <a:ext cx="5469480" cy="914364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1117440" y="482760"/>
            <a:ext cx="140205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Sequence Diagram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1117440" y="1650960"/>
            <a:ext cx="1402056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3048120" y="3809880"/>
            <a:ext cx="10159560" cy="253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"/>
          <p:cNvPicPr/>
          <p:nvPr/>
        </p:nvPicPr>
        <p:blipFill>
          <a:blip r:embed="rId1"/>
          <a:stretch/>
        </p:blipFill>
        <p:spPr>
          <a:xfrm>
            <a:off x="7755120" y="0"/>
            <a:ext cx="7103880" cy="914364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1117440" y="482760"/>
            <a:ext cx="140205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Misuse Case Diagram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1117440" y="1650960"/>
            <a:ext cx="1402056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3048120" y="3809880"/>
            <a:ext cx="10159560" cy="253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"/>
          <p:cNvPicPr/>
          <p:nvPr/>
        </p:nvPicPr>
        <p:blipFill>
          <a:blip r:embed="rId1"/>
          <a:stretch/>
        </p:blipFill>
        <p:spPr>
          <a:xfrm>
            <a:off x="7543800" y="0"/>
            <a:ext cx="8229600" cy="914364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1117440" y="482760"/>
            <a:ext cx="140205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Class Diagram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1117440" y="1650960"/>
            <a:ext cx="1402056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"/>
          <p:cNvSpPr/>
          <p:nvPr/>
        </p:nvSpPr>
        <p:spPr>
          <a:xfrm>
            <a:off x="3048120" y="3809880"/>
            <a:ext cx="10159560" cy="253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"/>
          <p:cNvPicPr/>
          <p:nvPr/>
        </p:nvPicPr>
        <p:blipFill>
          <a:blip r:embed="rId1"/>
          <a:stretch/>
        </p:blipFill>
        <p:spPr>
          <a:xfrm>
            <a:off x="5801040" y="924120"/>
            <a:ext cx="10200960" cy="799128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1117440" y="482760"/>
            <a:ext cx="140205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Implementation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1117440" y="1650960"/>
            <a:ext cx="6857640" cy="35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8229600" y="1650960"/>
            <a:ext cx="685764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1117440" y="5460840"/>
            <a:ext cx="4444560" cy="19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10515600" y="5460840"/>
            <a:ext cx="4444560" cy="19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"/>
          <p:cNvPicPr/>
          <p:nvPr/>
        </p:nvPicPr>
        <p:blipFill>
          <a:blip r:embed="rId1"/>
          <a:stretch/>
        </p:blipFill>
        <p:spPr>
          <a:xfrm>
            <a:off x="8611560" y="1828800"/>
            <a:ext cx="7619040" cy="388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"/>
          <p:cNvPicPr/>
          <p:nvPr/>
        </p:nvPicPr>
        <p:blipFill>
          <a:blip r:embed="rId2"/>
          <a:stretch/>
        </p:blipFill>
        <p:spPr>
          <a:xfrm>
            <a:off x="90000" y="1828800"/>
            <a:ext cx="8596800" cy="38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"/>
          <p:cNvPicPr/>
          <p:nvPr/>
        </p:nvPicPr>
        <p:blipFill>
          <a:blip r:embed="rId3"/>
          <a:stretch/>
        </p:blipFill>
        <p:spPr>
          <a:xfrm>
            <a:off x="165960" y="5780880"/>
            <a:ext cx="6006240" cy="267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"/>
          <p:cNvPicPr/>
          <p:nvPr/>
        </p:nvPicPr>
        <p:blipFill>
          <a:blip r:embed="rId4"/>
          <a:stretch/>
        </p:blipFill>
        <p:spPr>
          <a:xfrm>
            <a:off x="9144000" y="5901480"/>
            <a:ext cx="6762960" cy="301392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1117440" y="482760"/>
            <a:ext cx="140205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Conclusion and Summary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1117440" y="1778040"/>
            <a:ext cx="14020560" cy="66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Project Recap: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Warsha bridges the gap between local service seekers and verified providers.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Achievements: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Centralized digital marketplace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Verified worker profiles with admin oversight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Streamlined booking, payment, and rating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Trust through ratings and verification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Admin dashboard for disputes/refunds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Key Takeaways: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IEEE 830-1998 compliant SRS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32 functional requirements, 7 feature areas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Comprehensive NFRs across all categories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Complete UML design (6 diagram types)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30000"/>
              </a:lnSpc>
              <a:spcBef>
                <a:spcPts val="1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Clear in-scope and out-of-scope definition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1117440" y="1905120"/>
            <a:ext cx="1402056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72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Thank You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1117440" y="3809880"/>
            <a:ext cx="140205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Questions?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1117440" y="5334120"/>
            <a:ext cx="1402056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Warsha Team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Abdulrahman Ahmed | Marino Remon | Mohamed Mahmoud | Seif Bakry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LibreOffice/25.8.6.2$Windows_X86_64 LibreOffice_project/b4b39682cd9868fa725bc664aff94278d315bd04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2026-05-11T19:42:15Z</dcterms:created>
  <dc:creator>Kimi</dc:creator>
  <dc:description/>
  <dc:language>en-US</dc:language>
  <cp:lastModifiedBy/>
  <dcterms:modified xsi:type="dcterms:W3CDTF">2026-05-11T23:16:56Z</dcterms:modified>
  <cp:revision>2</cp:revision>
  <dc:subject>Warsha - Software Requirements Specification</dc:subject>
  <dc:title>Warsha - Software Requirements Specification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{"Label":"Warsha - Software Requirements Specification","ContentProducer":"001191110108MACG2KBH8F10000","ProduceID":"19e188d6-c852-86b5-8000-0000ef51ab68","ReservedCode1":"","ContentPropagator":"001191110108MACG2KBH8F20000","PropagateID":"19e188d6-c852-86b5-8000-0000ef51ab68","ReservedCode2":""}</vt:lpwstr>
  </property>
  <property fmtid="{D5CDD505-2E9C-101B-9397-08002B2CF9AE}" pid="3" name="Notes">
    <vt:i4>20</vt:i4>
  </property>
  <property fmtid="{D5CDD505-2E9C-101B-9397-08002B2CF9AE}" pid="4" name="PresentationFormat">
    <vt:lpwstr>On-screen Show (16:9)</vt:lpwstr>
  </property>
  <property fmtid="{D5CDD505-2E9C-101B-9397-08002B2CF9AE}" pid="5" name="Slides">
    <vt:i4>20</vt:i4>
  </property>
</Properties>
</file>